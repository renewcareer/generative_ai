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039405" y="594131"/>
            <a:ext cx="1561567" cy="54155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39405" y="1135685"/>
            <a:ext cx="1561567" cy="667741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39405" y="1135685"/>
            <a:ext cx="1561567" cy="187703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39405" y="1135685"/>
            <a:ext cx="1561567" cy="308632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39405" y="1135685"/>
            <a:ext cx="1561567" cy="429562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039405" y="594131"/>
            <a:ext cx="1561567" cy="211889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039405" y="1803425"/>
            <a:ext cx="1561567" cy="90959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39405" y="2713025"/>
            <a:ext cx="1561567" cy="29969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9405" y="2713025"/>
            <a:ext cx="1561567" cy="150898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39405" y="2713025"/>
            <a:ext cx="1561567" cy="271828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039405" y="594131"/>
            <a:ext cx="1561567" cy="369623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039405" y="1803425"/>
            <a:ext cx="1561567" cy="248693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039405" y="3012719"/>
            <a:ext cx="1561567" cy="127764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039405" y="4222013"/>
            <a:ext cx="1561567" cy="68351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39405" y="4290365"/>
            <a:ext cx="1561567" cy="114094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8039405" y="594131"/>
            <a:ext cx="1561567" cy="527357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039405" y="1803425"/>
            <a:ext cx="1561567" cy="406427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8039405" y="3012719"/>
            <a:ext cx="1561567" cy="285498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039405" y="4222013"/>
            <a:ext cx="1561567" cy="1645691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039405" y="5431307"/>
            <a:ext cx="1561567" cy="436397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0971" y="594131"/>
            <a:ext cx="1593113" cy="133022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0971" y="594131"/>
            <a:ext cx="1593113" cy="290756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0971" y="594131"/>
            <a:ext cx="1593113" cy="448490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0971" y="1803425"/>
            <a:ext cx="1593113" cy="12092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0971" y="1803425"/>
            <a:ext cx="1593113" cy="169826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0971" y="1803425"/>
            <a:ext cx="1593113" cy="327560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9600971" y="1924355"/>
            <a:ext cx="1593113" cy="108836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0971" y="3012719"/>
            <a:ext cx="1593113" cy="48897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0971" y="3012719"/>
            <a:ext cx="1593113" cy="206631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9600971" y="1924355"/>
            <a:ext cx="1593113" cy="229765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9600971" y="3501695"/>
            <a:ext cx="1593113" cy="72031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0971" y="4222013"/>
            <a:ext cx="1593113" cy="857021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9600971" y="1924355"/>
            <a:ext cx="1593113" cy="350695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9600971" y="3501695"/>
            <a:ext cx="1593113" cy="192961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9600971" y="5079035"/>
            <a:ext cx="1593113" cy="35227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0" y="1051560"/>
            <a:ext cx="168250" cy="16825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8" name="Shape 36"/>
          <p:cNvSpPr/>
          <p:nvPr/>
        </p:nvSpPr>
        <p:spPr>
          <a:xfrm>
            <a:off x="7955280" y="2628900"/>
            <a:ext cx="168250" cy="16825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9" name="Shape 37"/>
          <p:cNvSpPr/>
          <p:nvPr/>
        </p:nvSpPr>
        <p:spPr>
          <a:xfrm>
            <a:off x="7955280" y="4206240"/>
            <a:ext cx="168250" cy="16825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0" name="Shape 38"/>
          <p:cNvSpPr/>
          <p:nvPr/>
        </p:nvSpPr>
        <p:spPr>
          <a:xfrm>
            <a:off x="7955280" y="5783580"/>
            <a:ext cx="168250" cy="16825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1" name="Shape 39"/>
          <p:cNvSpPr/>
          <p:nvPr/>
        </p:nvSpPr>
        <p:spPr>
          <a:xfrm>
            <a:off x="9532620" y="525780"/>
            <a:ext cx="136703" cy="136703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42" name="Shape 40"/>
          <p:cNvSpPr/>
          <p:nvPr/>
        </p:nvSpPr>
        <p:spPr>
          <a:xfrm>
            <a:off x="9532620" y="1735074"/>
            <a:ext cx="136703" cy="136703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43" name="Shape 41"/>
          <p:cNvSpPr/>
          <p:nvPr/>
        </p:nvSpPr>
        <p:spPr>
          <a:xfrm>
            <a:off x="9532620" y="2944368"/>
            <a:ext cx="136703" cy="136703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44" name="Shape 42"/>
          <p:cNvSpPr/>
          <p:nvPr/>
        </p:nvSpPr>
        <p:spPr>
          <a:xfrm>
            <a:off x="9532620" y="4153662"/>
            <a:ext cx="136703" cy="136703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45" name="Shape 43"/>
          <p:cNvSpPr/>
          <p:nvPr/>
        </p:nvSpPr>
        <p:spPr>
          <a:xfrm>
            <a:off x="9532620" y="5362956"/>
            <a:ext cx="136703" cy="136703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46" name="Shape 44"/>
          <p:cNvSpPr/>
          <p:nvPr/>
        </p:nvSpPr>
        <p:spPr>
          <a:xfrm>
            <a:off x="11109960" y="1840230"/>
            <a:ext cx="168250" cy="16825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09960" y="3417570"/>
            <a:ext cx="168250" cy="16825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09960" y="4994910"/>
            <a:ext cx="168250" cy="16825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858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GENAI INSTRUCTOR SESSION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169164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Models,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Demystified</a:t>
            </a:r>
            <a:endParaRPr lang="en-US" sz="42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3611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neural-network mechanics to prompt engineering — built the way you already think about systems.</a:t>
            </a:r>
            <a:endParaRPr lang="en-US" sz="1550" dirty="0"/>
          </a:p>
        </p:txBody>
      </p:sp>
      <p:sp>
        <p:nvSpPr>
          <p:cNvPr id="52" name="Shape 50"/>
          <p:cNvSpPr/>
          <p:nvPr/>
        </p:nvSpPr>
        <p:spPr>
          <a:xfrm>
            <a:off x="713232" y="4709160"/>
            <a:ext cx="502920" cy="0"/>
          </a:xfrm>
          <a:prstGeom prst="line">
            <a:avLst/>
          </a:prstGeom>
          <a:noFill/>
          <a:ln w="31750">
            <a:solidFill>
              <a:srgbClr val="00C2A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580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Desmond Onam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685800" y="5138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Data Engineering · Data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Before Usage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00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learn prompting by trial and error. We're doing it backward: model first, technique second — so every prompting move you make later has a mechanical reason behind it, not a superstition.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3429000" cy="2926080"/>
          </a:xfrm>
          <a:prstGeom prst="roundRect">
            <a:avLst>
              <a:gd name="adj" fmla="val 2813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926080"/>
            <a:ext cx="502920" cy="50292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6118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landscape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Generative AI, language models, and LLMs actually sit relative to each other.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120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2606040"/>
            <a:ext cx="3429000" cy="2926080"/>
          </a:xfrm>
          <a:prstGeom prst="roundRect">
            <a:avLst>
              <a:gd name="adj" fmla="val 2813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926080"/>
            <a:ext cx="502920" cy="50292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6118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hood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embeddings, attention, and the training pipeline that turns text into a working model.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5120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83880" y="2606040"/>
            <a:ext cx="3429000" cy="2926080"/>
          </a:xfrm>
          <a:prstGeom prst="roundRect">
            <a:avLst>
              <a:gd name="adj" fmla="val 2813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2926080"/>
            <a:ext cx="502920" cy="50292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0392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6118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it deliberately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mechanic into a specific, repeatable prompt engineering technique.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5120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Is the Category —</a:t>
            </a:r>
            <a:endParaRPr lang="en-US" sz="27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Are One Resident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33172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describes any model that creates new content — rather than just labeling or scoring it — by learning the patterns in its training data well enough to sample new, original examples from them.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the text-and-reasoning branch of this family.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78040" y="868680"/>
            <a:ext cx="2020824" cy="1234440"/>
          </a:xfrm>
          <a:prstGeom prst="roundRect">
            <a:avLst>
              <a:gd name="adj" fmla="val 6667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34072" y="1124712"/>
            <a:ext cx="365760" cy="36576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34072" y="1581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34072" y="18379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chat assistants, code generation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473184" y="868680"/>
            <a:ext cx="2020824" cy="1234440"/>
          </a:xfrm>
          <a:prstGeom prst="roundRect">
            <a:avLst>
              <a:gd name="adj" fmla="val 6667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729216" y="1124712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29216" y="1581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729216" y="18379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— art, photo synthesis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78040" y="2359152"/>
            <a:ext cx="2020824" cy="1234440"/>
          </a:xfrm>
          <a:prstGeom prst="roundRect">
            <a:avLst>
              <a:gd name="adj" fmla="val 6667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34072" y="2615184"/>
            <a:ext cx="365760" cy="36576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34072" y="30723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434072" y="332841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cloning, music &amp; speech synthesis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73184" y="2359152"/>
            <a:ext cx="2020824" cy="1234440"/>
          </a:xfrm>
          <a:prstGeom prst="roundRect">
            <a:avLst>
              <a:gd name="adj" fmla="val 6667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29216" y="261518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29216" y="30723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&amp; Code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729216" y="332841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Text-to-video, autonomous coding agents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Nested, Not Separate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4663440" cy="4663440"/>
          </a:xfrm>
          <a:prstGeom prst="ellipse">
            <a:avLst/>
          </a:prstGeom>
          <a:solidFill>
            <a:srgbClr val="F5F3FB"/>
          </a:solidFill>
          <a:ln w="12700">
            <a:solidFill>
              <a:srgbClr val="D8CF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377440"/>
            <a:ext cx="3200400" cy="3200400"/>
          </a:xfrm>
          <a:prstGeom prst="ellipse">
            <a:avLst/>
          </a:prstGeom>
          <a:solidFill>
            <a:srgbClr val="EAE3F8"/>
          </a:solidFill>
          <a:ln w="12700">
            <a:solidFill>
              <a:srgbClr val="D8CF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0280" y="3108960"/>
            <a:ext cx="1737360" cy="1737360"/>
          </a:xfrm>
          <a:prstGeom prst="ellipse">
            <a:avLst/>
          </a:prstGeom>
          <a:solidFill>
            <a:srgbClr val="6C4AB6"/>
          </a:solidFill>
          <a:ln w="12700">
            <a:solidFill>
              <a:srgbClr val="D8CF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743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7216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1325880"/>
            <a:ext cx="201168" cy="201168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22008" y="12070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922008" y="153619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that generates new content across modalities — the whole outer category.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2926080"/>
            <a:ext cx="201168" cy="201168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22008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Models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922008" y="313639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specialised in text and sequences: predicting, completing, and producing language.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4526280"/>
            <a:ext cx="201168" cy="20116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22008" y="44074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922008" y="473659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at a scale (parameters + training data) large enough that new abilities emerge — the inner core we'll spend most of today on.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Sentence Definition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10835640" cy="1691640"/>
          </a:xfrm>
          <a:prstGeom prst="roundRect">
            <a:avLst>
              <a:gd name="adj" fmla="val 4865"/>
            </a:avLst>
          </a:prstGeom>
          <a:solidFill>
            <a:srgbClr val="3B2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554480"/>
            <a:ext cx="9921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i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neural network trained to predict the next token in a sequence — at a scale large enough that prediction starts to look like reasoning.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85800" y="3566160"/>
            <a:ext cx="457200" cy="457200"/>
          </a:xfrm>
          <a:prstGeom prst="ellipse">
            <a:avLst/>
          </a:prstGeom>
          <a:solidFill>
            <a:srgbClr val="E4DC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605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on enormous, broad corpora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8006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code, web pages, conversation — trillions of tokens of raw text.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3566160"/>
            <a:ext cx="457200" cy="457200"/>
          </a:xfrm>
          <a:prstGeom prst="ellipse">
            <a:avLst/>
          </a:prstGeom>
          <a:solidFill>
            <a:srgbClr val="E4DC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41605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in the tens to hundreds of billions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48006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weights that encode patterns across all that text.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3566160"/>
            <a:ext cx="457200" cy="457200"/>
          </a:xfrm>
          <a:prstGeom prst="ellipse">
            <a:avLst/>
          </a:prstGeom>
          <a:solidFill>
            <a:srgbClr val="E4DC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41605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is a probability distribution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006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next token — sampled, one token at a time, to generate a response.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MECHANICS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Becomes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457200" cy="45720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14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broken into sub-word units the model actually operates 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246120"/>
            <a:ext cx="845820" cy="502920"/>
          </a:xfrm>
          <a:prstGeom prst="roundRect">
            <a:avLst>
              <a:gd name="adj" fmla="val 12727"/>
            </a:avLst>
          </a:prstGeom>
          <a:solidFill>
            <a:srgbClr val="E4DC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246120"/>
            <a:ext cx="845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961388" y="3246120"/>
            <a:ext cx="845820" cy="502920"/>
          </a:xfrm>
          <a:prstGeom prst="roundRect">
            <a:avLst>
              <a:gd name="adj" fmla="val 12727"/>
            </a:avLst>
          </a:prstGeom>
          <a:solidFill>
            <a:srgbClr val="E4DC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961388" y="3246120"/>
            <a:ext cx="845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916936" y="3246120"/>
            <a:ext cx="635508" cy="502920"/>
          </a:xfrm>
          <a:prstGeom prst="roundRect">
            <a:avLst>
              <a:gd name="adj" fmla="val 12727"/>
            </a:avLst>
          </a:prstGeom>
          <a:solidFill>
            <a:srgbClr val="E4DC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16936" y="3246120"/>
            <a:ext cx="635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"Understanding" → 3 tokens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34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words often stay whole; rarer words split into familiar pieces — this is how the model handles any word, even ones it never saw in training.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53328" y="3429000"/>
            <a:ext cx="502920" cy="365760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0840" y="1691640"/>
            <a:ext cx="4800600" cy="4114800"/>
          </a:xfrm>
          <a:prstGeom prst="roundRect">
            <a:avLst>
              <a:gd name="adj" fmla="val 2000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1965960"/>
            <a:ext cx="457200" cy="45720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5146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maps to a vector of numbers encoding its meaning and context.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0" y="3566160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4" name="Shape 22"/>
          <p:cNvSpPr/>
          <p:nvPr/>
        </p:nvSpPr>
        <p:spPr>
          <a:xfrm>
            <a:off x="7818120" y="3794760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52360" y="3886200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Shape 24"/>
          <p:cNvSpPr/>
          <p:nvPr/>
        </p:nvSpPr>
        <p:spPr>
          <a:xfrm>
            <a:off x="7863840" y="3429000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Shape 25"/>
          <p:cNvSpPr/>
          <p:nvPr/>
        </p:nvSpPr>
        <p:spPr>
          <a:xfrm>
            <a:off x="7680960" y="3977640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58400" y="4206240"/>
            <a:ext cx="128016" cy="128016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32720" y="4023360"/>
            <a:ext cx="128016" cy="128016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30" name="Shape 28"/>
          <p:cNvSpPr/>
          <p:nvPr/>
        </p:nvSpPr>
        <p:spPr>
          <a:xfrm>
            <a:off x="9966960" y="4389120"/>
            <a:ext cx="128016" cy="128016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87000" y="4434840"/>
            <a:ext cx="128016" cy="128016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49840" y="4160520"/>
            <a:ext cx="128016" cy="128016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0" y="4114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A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829800" y="4526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B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5074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meanings land near each other in this space — that's what lets the model generalise beyond exact phrases it has seen.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MECHANICS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Token Reads Every Other Token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35640" cy="1920240"/>
          </a:xfrm>
          <a:prstGeom prst="roundRect">
            <a:avLst>
              <a:gd name="adj" fmla="val 4286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56816" y="2642616"/>
            <a:ext cx="4992624" cy="914"/>
          </a:xfrm>
          <a:prstGeom prst="line">
            <a:avLst/>
          </a:prstGeom>
          <a:noFill/>
          <a:ln w="14288">
            <a:solidFill>
              <a:srgbClr val="6C4AB6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21024" y="2642616"/>
            <a:ext cx="3328416" cy="914"/>
          </a:xfrm>
          <a:prstGeom prst="line">
            <a:avLst/>
          </a:prstGeom>
          <a:noFill/>
          <a:ln w="20638">
            <a:solidFill>
              <a:srgbClr val="6C4AB6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85232" y="2642616"/>
            <a:ext cx="1664208" cy="914"/>
          </a:xfrm>
          <a:prstGeom prst="line">
            <a:avLst/>
          </a:prstGeom>
          <a:noFill/>
          <a:ln w="28575">
            <a:solidFill>
              <a:srgbClr val="6C4AB6">
                <a:alpha val="4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2642616"/>
            <a:ext cx="1664208" cy="914"/>
          </a:xfrm>
          <a:prstGeom prst="line">
            <a:avLst/>
          </a:prstGeom>
          <a:noFill/>
          <a:ln w="34925">
            <a:solidFill>
              <a:srgbClr val="6C4AB6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2642616"/>
            <a:ext cx="3328416" cy="914"/>
          </a:xfrm>
          <a:prstGeom prst="line">
            <a:avLst/>
          </a:prstGeom>
          <a:noFill/>
          <a:ln w="17463">
            <a:solidFill>
              <a:srgbClr val="6C4AB6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514600"/>
            <a:ext cx="256032" cy="256032"/>
          </a:xfrm>
          <a:prstGeom prst="ellipse">
            <a:avLst/>
          </a:prstGeom>
          <a:solidFill>
            <a:srgbClr val="6C4AB6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493008" y="2514600"/>
            <a:ext cx="256032" cy="256032"/>
          </a:xfrm>
          <a:prstGeom prst="ellipse">
            <a:avLst/>
          </a:prstGeom>
          <a:solidFill>
            <a:srgbClr val="6C4AB6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7216" y="2514600"/>
            <a:ext cx="256032" cy="256032"/>
          </a:xfrm>
          <a:prstGeom prst="ellipse">
            <a:avLst/>
          </a:prstGeom>
          <a:solidFill>
            <a:srgbClr val="6C4AB6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21424" y="2514600"/>
            <a:ext cx="256032" cy="25603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Shape 12"/>
          <p:cNvSpPr/>
          <p:nvPr/>
        </p:nvSpPr>
        <p:spPr>
          <a:xfrm>
            <a:off x="8485632" y="2514600"/>
            <a:ext cx="256032" cy="256032"/>
          </a:xfrm>
          <a:prstGeom prst="ellipse">
            <a:avLst/>
          </a:prstGeom>
          <a:solidFill>
            <a:srgbClr val="6C4AB6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49840" y="2514600"/>
            <a:ext cx="256032" cy="256032"/>
          </a:xfrm>
          <a:prstGeom prst="ellipse">
            <a:avLst/>
          </a:prstGeom>
          <a:solidFill>
            <a:srgbClr val="6C4AB6">
              <a:alpha val="7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417320" y="30632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quick  brown  fox  jumps  over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29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Thicker, more solid lines = higher attention weight from the highlighted token.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77640"/>
            <a:ext cx="10835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each token weigh how relevant every other token is before updating its own representation. Stack this dozens of layers deep and the model builds rich, context-aware meaning — which is exactly why the same word can mean different things in different sentences.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07492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"It" refers to the animal, not the sentence — the model resolves this only by attending across the whole sequence.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MECHANICS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Stages, One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429000" cy="4023360"/>
          </a:xfrm>
          <a:prstGeom prst="roundRect">
            <a:avLst>
              <a:gd name="adj" fmla="val 2400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212848"/>
            <a:ext cx="502920" cy="50292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88036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Pretraining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566160"/>
            <a:ext cx="2843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next-token prediction across huge, unlabeled corpora. This is where most of the model's raw “knowledge” comes from.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42232" y="3749040"/>
            <a:ext cx="274320" cy="320040"/>
          </a:xfrm>
          <a:prstGeom prst="rightArrow">
            <a:avLst/>
          </a:prstGeom>
          <a:solidFill>
            <a:srgbClr val="6C4AB6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920240"/>
            <a:ext cx="3429000" cy="4023360"/>
          </a:xfrm>
          <a:prstGeom prst="roundRect">
            <a:avLst>
              <a:gd name="adj" fmla="val 2400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2212848"/>
            <a:ext cx="502920" cy="50292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2744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288036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Fine-Tuning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3566160"/>
            <a:ext cx="2843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further on curated prompt/response pairs, so it learns to follow instructions rather than just continue text.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91272" y="3749040"/>
            <a:ext cx="274320" cy="320040"/>
          </a:xfrm>
          <a:prstGeom prst="rightArrow">
            <a:avLst/>
          </a:prstGeom>
          <a:solidFill>
            <a:srgbClr val="6C4AB6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1920240"/>
            <a:ext cx="3429000" cy="4023360"/>
          </a:xfrm>
          <a:prstGeom prst="roundRect">
            <a:avLst>
              <a:gd name="adj" fmla="val 2400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6488" y="2212848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7648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288036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(RLHF / RLAIF)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476488" y="3566160"/>
            <a:ext cx="2843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or AI preference feedback shapes tone, safety, and helpfulness of the final responses.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MECHANICS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Emergence, Not Magic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66360" cy="2880360"/>
          </a:xfrm>
          <a:prstGeom prst="roundRect">
            <a:avLst>
              <a:gd name="adj" fmla="val 2857"/>
            </a:avLst>
          </a:prstGeom>
          <a:solidFill>
            <a:srgbClr val="F7F0F0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783080"/>
            <a:ext cx="5166360" cy="2880360"/>
          </a:xfrm>
          <a:prstGeom prst="roundRect">
            <a:avLst>
              <a:gd name="adj" fmla="val 2857"/>
            </a:avLst>
          </a:prstGeom>
          <a:solidFill>
            <a:srgbClr val="EEF8F5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0574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1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6888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understanding, holding beliefs and intentions — the model “knows” what it's talking about.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0574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HAPPENING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46888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pattern completion at a scale where new capabilities — in-context learning, multi-step problem solving — emerge without being explicitly programmed.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937760"/>
            <a:ext cx="10835640" cy="960120"/>
          </a:xfrm>
          <a:prstGeom prst="roundRect">
            <a:avLst>
              <a:gd name="adj" fmla="val 8571"/>
            </a:avLst>
          </a:prstGeom>
          <a:solidFill>
            <a:srgbClr val="3B2A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937760"/>
            <a:ext cx="10104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 like few-shot learning weren't designed in line by line — they emerged once model and data scale crossed a threshold.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MECHANICS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What You're Working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78308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0574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0574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2615184"/>
            <a:ext cx="109728" cy="109728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244144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generation across styles and languages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3456432"/>
            <a:ext cx="109728" cy="109728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328269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general knowledge from massive pretraining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4297680"/>
            <a:ext cx="109728" cy="109728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4123944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adaptability — no retraining needed per task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" y="5138928"/>
            <a:ext cx="109728" cy="109728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80160" y="496519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language and code with the same architecture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2615184"/>
            <a:ext cx="109728" cy="109728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244144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— confidently wrong, not just occasionally wrong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0" y="3456432"/>
            <a:ext cx="109728" cy="109728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328269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knowledge cutoff baked in at training 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4297680"/>
            <a:ext cx="109728" cy="109728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4123944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context window — older input can fall out of view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5138928"/>
            <a:ext cx="109728" cy="109728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9440" y="496519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memory across sessions by default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Field, in Brief (Late 2026)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320040" cy="32004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GPT-5 family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+ coding-specialised variants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87452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94760" y="2148840"/>
            <a:ext cx="320040" cy="3200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94760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4 family (incl. Opus)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reasoning, coding, and long agentic tasks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87452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2148840"/>
            <a:ext cx="320040" cy="32004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multimodal + native tool use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87452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64040" y="2148840"/>
            <a:ext cx="320040" cy="3200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64040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open-weight family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61772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trend: reasoning-focused variants, longer context windows, and native agentic tool-use across every major family.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1206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as of September 2026 — this layer of the field moves fast; treat family names as current, not permanent.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0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291779" y="1993621"/>
            <a:ext cx="1154201" cy="40027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1779" y="2393899"/>
            <a:ext cx="1154201" cy="493547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1779" y="2393899"/>
            <a:ext cx="1154201" cy="138737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91779" y="2393899"/>
            <a:ext cx="1154201" cy="228119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91779" y="2393899"/>
            <a:ext cx="1154201" cy="317502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291779" y="1993621"/>
            <a:ext cx="1154201" cy="156613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291779" y="2887447"/>
            <a:ext cx="1154201" cy="67231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91779" y="3559759"/>
            <a:ext cx="1154201" cy="22151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1779" y="3559759"/>
            <a:ext cx="1154201" cy="111533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91779" y="3559759"/>
            <a:ext cx="1154201" cy="200916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291779" y="1993621"/>
            <a:ext cx="1154201" cy="273199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291779" y="2887447"/>
            <a:ext cx="1154201" cy="183817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291779" y="3781273"/>
            <a:ext cx="1154201" cy="944347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291779" y="4675099"/>
            <a:ext cx="1154201" cy="50521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1779" y="4725619"/>
            <a:ext cx="1154201" cy="84330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8291779" y="1993621"/>
            <a:ext cx="1154201" cy="389785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291779" y="2887447"/>
            <a:ext cx="1154201" cy="300403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8291779" y="3781273"/>
            <a:ext cx="1154201" cy="2110207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291779" y="4675099"/>
            <a:ext cx="1154201" cy="1216381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291779" y="5568925"/>
            <a:ext cx="1154201" cy="32255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45981" y="1993621"/>
            <a:ext cx="1177519" cy="98320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45981" y="1993621"/>
            <a:ext cx="1177519" cy="214906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45981" y="1993621"/>
            <a:ext cx="1177519" cy="331492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45981" y="2887447"/>
            <a:ext cx="1177519" cy="8938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45981" y="2887447"/>
            <a:ext cx="1177519" cy="125524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45981" y="2887447"/>
            <a:ext cx="1177519" cy="242110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9445981" y="2976829"/>
            <a:ext cx="1177519" cy="804443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45981" y="3781273"/>
            <a:ext cx="1177519" cy="361417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45981" y="3781273"/>
            <a:ext cx="1177519" cy="1527277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9445981" y="2976829"/>
            <a:ext cx="1177519" cy="169826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9445981" y="4142689"/>
            <a:ext cx="1177519" cy="532409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45981" y="4675099"/>
            <a:ext cx="1177519" cy="633451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9445981" y="2976829"/>
            <a:ext cx="1177519" cy="259209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9445981" y="4142689"/>
            <a:ext cx="1177519" cy="142623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9445981" y="5308549"/>
            <a:ext cx="1177519" cy="260375"/>
          </a:xfrm>
          <a:prstGeom prst="line">
            <a:avLst/>
          </a:prstGeom>
          <a:noFill/>
          <a:ln w="6350">
            <a:solidFill>
              <a:srgbClr val="4A3B7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2331720"/>
            <a:ext cx="124358" cy="12435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8" name="Shape 36"/>
          <p:cNvSpPr/>
          <p:nvPr/>
        </p:nvSpPr>
        <p:spPr>
          <a:xfrm>
            <a:off x="8229600" y="3497580"/>
            <a:ext cx="124358" cy="12435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4663440"/>
            <a:ext cx="124358" cy="12435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0" name="Shape 38"/>
          <p:cNvSpPr/>
          <p:nvPr/>
        </p:nvSpPr>
        <p:spPr>
          <a:xfrm>
            <a:off x="8229600" y="5829300"/>
            <a:ext cx="124358" cy="12435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1" name="Shape 39"/>
          <p:cNvSpPr/>
          <p:nvPr/>
        </p:nvSpPr>
        <p:spPr>
          <a:xfrm>
            <a:off x="9395460" y="1943100"/>
            <a:ext cx="101041" cy="101041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42" name="Shape 40"/>
          <p:cNvSpPr/>
          <p:nvPr/>
        </p:nvSpPr>
        <p:spPr>
          <a:xfrm>
            <a:off x="9395460" y="2836926"/>
            <a:ext cx="101041" cy="101041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43" name="Shape 41"/>
          <p:cNvSpPr/>
          <p:nvPr/>
        </p:nvSpPr>
        <p:spPr>
          <a:xfrm>
            <a:off x="9395460" y="3730752"/>
            <a:ext cx="101041" cy="101041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44" name="Shape 42"/>
          <p:cNvSpPr/>
          <p:nvPr/>
        </p:nvSpPr>
        <p:spPr>
          <a:xfrm>
            <a:off x="9395460" y="4624578"/>
            <a:ext cx="101041" cy="101041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45" name="Shape 43"/>
          <p:cNvSpPr/>
          <p:nvPr/>
        </p:nvSpPr>
        <p:spPr>
          <a:xfrm>
            <a:off x="9395460" y="5518404"/>
            <a:ext cx="101041" cy="101041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46" name="Shape 44"/>
          <p:cNvSpPr/>
          <p:nvPr/>
        </p:nvSpPr>
        <p:spPr>
          <a:xfrm>
            <a:off x="10561320" y="2914650"/>
            <a:ext cx="124358" cy="12435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7" name="Shape 45"/>
          <p:cNvSpPr/>
          <p:nvPr/>
        </p:nvSpPr>
        <p:spPr>
          <a:xfrm>
            <a:off x="10561320" y="4080510"/>
            <a:ext cx="124358" cy="12435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8" name="Shape 46"/>
          <p:cNvSpPr/>
          <p:nvPr/>
        </p:nvSpPr>
        <p:spPr>
          <a:xfrm>
            <a:off x="10561320" y="5246370"/>
            <a:ext cx="124358" cy="12435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7724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31520" y="23317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 What's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Hood.</a:t>
            </a:r>
            <a:endParaRPr lang="en-US" sz="3600" dirty="0"/>
          </a:p>
        </p:txBody>
      </p:sp>
      <p:sp>
        <p:nvSpPr>
          <p:cNvPr id="51" name="Text 49"/>
          <p:cNvSpPr txBox="1"/>
          <p:nvPr/>
        </p:nvSpPr>
        <p:spPr>
          <a:xfrm>
            <a:off x="777240" y="38404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understanding is the entire foundation of good prompt engineering. Let's put it to work.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PROMPT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Steering the Distribution, on Purpose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35640" cy="1783080"/>
          </a:xfrm>
          <a:prstGeom prst="roundRect">
            <a:avLst>
              <a:gd name="adj" fmla="val 4615"/>
            </a:avLst>
          </a:prstGeom>
          <a:solidFill>
            <a:srgbClr val="3B2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783080"/>
            <a:ext cx="9921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50" b="1" i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is the deliberate design of inputs to shift an LLM's next-token probabilities toward the response you actually want — informed by how the model was trained, not guesswork or “magic phrases.”</a:t>
            </a:r>
            <a:endParaRPr lang="en-US" sz="1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77640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technique in Part 2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applied understanding of the mechanics from Part 1 — tokenization, attention, training, and emergence — not a separate skill you learn from scratch.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PROMPT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Techniques Worth Mastering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E4DC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819656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&amp; instruction framing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2121408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who it is and what “done” looks like — it steers the whole response distribution before the first token.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E4DC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44168" y="3236976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context &amp; constraints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3538728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format, length, audience, and boundaries directly; the model has no hidden intent to infer them from.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709160"/>
            <a:ext cx="457200" cy="457200"/>
          </a:xfrm>
          <a:prstGeom prst="ellipse">
            <a:avLst/>
          </a:prstGeom>
          <a:solidFill>
            <a:srgbClr val="E4DC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44168" y="4654296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examples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956048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exact input/output pattern you want — the model mimics the shape of examples far better than instructions alone.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457200" cy="457200"/>
          </a:xfrm>
          <a:prstGeom prst="ellipse">
            <a:avLst/>
          </a:prstGeom>
          <a:solidFill>
            <a:srgbClr val="E4DC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22008" y="1819656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prompting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922008" y="2121408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step-by-step reasoning before the final answer; explicit reasoning improves the tokens that follow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291840"/>
            <a:ext cx="457200" cy="457200"/>
          </a:xfrm>
          <a:prstGeom prst="ellipse">
            <a:avLst/>
          </a:prstGeom>
          <a:solidFill>
            <a:srgbClr val="E4DC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22008" y="3236976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evaluation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922008" y="3538728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first output as a draft — refine the prompt based on where the response actually went wrong.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PROMPT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4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Technique Traces Back to Mechanics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246120" cy="411480"/>
          </a:xfrm>
          <a:prstGeom prst="rect">
            <a:avLst/>
          </a:prstGeom>
          <a:solidFill>
            <a:srgbClr val="3B2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0392" y="155448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Concept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1554480"/>
            <a:ext cx="3840480" cy="411480"/>
          </a:xfrm>
          <a:prstGeom prst="rect">
            <a:avLst/>
          </a:prstGeom>
          <a:solidFill>
            <a:srgbClr val="3B2A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096512" y="1554480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0" y="1554480"/>
            <a:ext cx="3749040" cy="411480"/>
          </a:xfrm>
          <a:prstGeom prst="rect">
            <a:avLst/>
          </a:prstGeom>
          <a:solidFill>
            <a:srgbClr val="3B2A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36992" y="1554480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Move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10835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2020824"/>
            <a:ext cx="2916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96512" y="2020824"/>
            <a:ext cx="3511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intent — only pattern continuation.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36992" y="2020824"/>
            <a:ext cx="3419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explicit; ambiguity gets resolved statistically, not with judgment.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10835640" cy="777240"/>
          </a:xfrm>
          <a:prstGeom prst="rect">
            <a:avLst/>
          </a:prstGeom>
          <a:solidFill>
            <a:srgbClr val="F5F3FB"/>
          </a:solidFill>
          <a:ln w="9525">
            <a:solidFill>
              <a:srgbClr val="E3DD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2798064"/>
            <a:ext cx="2916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&amp; context window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6512" y="2798064"/>
            <a:ext cx="3511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tokens get equal weight as context grows.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36992" y="2798064"/>
            <a:ext cx="3419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critical instructions up front and restate key constraints.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520440"/>
            <a:ext cx="10835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" y="3575304"/>
            <a:ext cx="2916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via pattern exposure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096512" y="3575304"/>
            <a:ext cx="3511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mimics the shape of what it's shown.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36992" y="3575304"/>
            <a:ext cx="3419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few-shot examples in the exact format you want back.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297680"/>
            <a:ext cx="10835640" cy="777240"/>
          </a:xfrm>
          <a:prstGeom prst="rect">
            <a:avLst/>
          </a:prstGeom>
          <a:solidFill>
            <a:srgbClr val="F5F3FB"/>
          </a:solidFill>
          <a:ln w="9525">
            <a:solidFill>
              <a:srgbClr val="E3DD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" y="4352544"/>
            <a:ext cx="2916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step-by-step reasoning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096512" y="4352544"/>
            <a:ext cx="3511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improves when made explicit.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36992" y="4352544"/>
            <a:ext cx="3419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chain-of-thought — “think step by step.”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5074920"/>
            <a:ext cx="10835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" y="5129784"/>
            <a:ext cx="2916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memory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096512" y="5129784"/>
            <a:ext cx="3511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starts fresh unless given history.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936992" y="5129784"/>
            <a:ext cx="3419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Re-supply the relevant context every single time.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4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0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Understanding Into Instinct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429000" cy="2926080"/>
          </a:xfrm>
          <a:prstGeom prst="roundRect">
            <a:avLst>
              <a:gd name="adj" fmla="val 2813"/>
            </a:avLst>
          </a:prstGeom>
          <a:solidFill>
            <a:srgbClr val="1B1440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225856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0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92608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deliberately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52044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personal prompt library tagged by technique used, not just by task — so you reuse the reasoning, not just the wording.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3429000" cy="2926080"/>
          </a:xfrm>
          <a:prstGeom prst="roundRect">
            <a:avLst>
              <a:gd name="adj" fmla="val 2813"/>
            </a:avLst>
          </a:prstGeom>
          <a:solidFill>
            <a:srgbClr val="1B1440"/>
          </a:solidFill>
          <a:ln/>
        </p:spPr>
      </p:sp>
      <p:sp>
        <p:nvSpPr>
          <p:cNvPr id="10" name="Shape 8"/>
          <p:cNvSpPr/>
          <p:nvPr/>
        </p:nvSpPr>
        <p:spPr>
          <a:xfrm>
            <a:off x="4773168" y="225856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7316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0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292608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it to lock it in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352044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tokens, attention, and training to a class is the fastest way to stress-test your own understanding.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429000" cy="2926080"/>
          </a:xfrm>
          <a:prstGeom prst="roundRect">
            <a:avLst>
              <a:gd name="adj" fmla="val 2813"/>
            </a:avLst>
          </a:prstGeom>
          <a:solidFill>
            <a:srgbClr val="1B144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22208" y="225856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2220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0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22208" y="292608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the field lightly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522208" y="352044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model-release notes monthly rather than chasing every headline — the mechanics you learned today outlast any one model.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502920" cy="0"/>
          </a:xfrm>
          <a:prstGeom prst="line">
            <a:avLst/>
          </a:prstGeom>
          <a:noFill/>
          <a:ln w="3175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model, and prompting stops being guesswork.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2315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2026-09-14T01:25:58Z</dcterms:created>
  <dcterms:modified xsi:type="dcterms:W3CDTF">2026-09-14T01:25:58Z</dcterms:modified>
</cp:coreProperties>
</file>